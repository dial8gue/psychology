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Психокоррекционная программа</a:t>
            </a:r>
          </a:p>
          <a:p>
            <a:r>
              <a:t>для детей с лёгкой умственной отсталостью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Программа коррекции познавательных процессов</a:t>
            </a:r>
          </a:p>
          <a:p>
            <a:r>
              <a:t>и социально-эмоционального развития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Актуальность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Лёгкая умственная отсталость (F70 по МКБ-10) — наиболее распространённая форма</a:t>
            </a:r>
          </a:p>
          <a:p>
            <a:pPr>
              <a:spcAft>
                <a:spcPts val="600"/>
              </a:spcAft>
              <a:defRPr sz="1400"/>
            </a:pPr>
            <a:r>
              <a:t>интеллектуальных нарушений (IQ 50–69), составляющая до 80% всех случаев УО.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Дети с лёгкой УО испытывают трудности в:</a:t>
            </a:r>
          </a:p>
          <a:p>
            <a:pPr>
              <a:spcAft>
                <a:spcPts val="600"/>
              </a:spcAft>
              <a:defRPr sz="1400"/>
            </a:pPr>
            <a:r>
              <a:t>• развитии познавательных процессов (внимание, память, мышление);</a:t>
            </a:r>
          </a:p>
          <a:p>
            <a:pPr>
              <a:spcAft>
                <a:spcPts val="600"/>
              </a:spcAft>
              <a:defRPr sz="1400"/>
            </a:pPr>
            <a:r>
              <a:t>• формировании эмоциональной регуляции и волевого контроля;</a:t>
            </a:r>
          </a:p>
          <a:p>
            <a:pPr>
              <a:spcAft>
                <a:spcPts val="600"/>
              </a:spcAft>
              <a:defRPr sz="1400"/>
            </a:pPr>
            <a:r>
              <a:t>• освоении социальных навыков и адаптивного поведения;</a:t>
            </a:r>
          </a:p>
          <a:p>
            <a:pPr>
              <a:spcAft>
                <a:spcPts val="600"/>
              </a:spcAft>
              <a:defRPr sz="1400"/>
            </a:pPr>
            <a:r>
              <a:t>• учебной деятельности и межличностных отношениях.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При систематической психокоррекционной работе возможно существенное</a:t>
            </a:r>
          </a:p>
          <a:p>
            <a:pPr>
              <a:spcAft>
                <a:spcPts val="600"/>
              </a:spcAft>
              <a:defRPr sz="1400"/>
            </a:pPr>
            <a:r>
              <a:t>повышение уровня адаптации и качества жизни данной категории детей.</a:t>
            </a:r>
          </a:p>
          <a:p>
            <a:pPr>
              <a:spcAft>
                <a:spcPts val="600"/>
              </a:spcAft>
              <a:defRPr sz="1400"/>
            </a:pPr>
            <a:r>
              <a:t>Раннее начало коррекции (7–10 лет) создаёт основу для дальнейшей</a:t>
            </a:r>
          </a:p>
          <a:p>
            <a:pPr>
              <a:spcAft>
                <a:spcPts val="600"/>
              </a:spcAft>
              <a:defRPr sz="1400"/>
            </a:pPr>
            <a:r>
              <a:t>социализации и освоения программы специального образования.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и задачи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Цель: коррекция и развитие познавательных процессов и социально-эмоциональной</a:t>
            </a:r>
          </a:p>
          <a:p>
            <a:pPr>
              <a:spcAft>
                <a:spcPts val="600"/>
              </a:spcAft>
              <a:defRPr sz="1400"/>
            </a:pPr>
            <a:r>
              <a:t>сферы у детей младшего школьного возраста с лёгкой умственной отсталостью.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Адресаты: педагоги-психологи, дефектологи, педагоги коррекционных классов,</a:t>
            </a:r>
          </a:p>
          <a:p>
            <a:pPr>
              <a:spcAft>
                <a:spcPts val="600"/>
              </a:spcAft>
              <a:defRPr sz="1400"/>
            </a:pPr>
            <a:r>
              <a:t>родители, дети 7–11 лет с диагнозом F70.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Задачи:</a:t>
            </a:r>
          </a:p>
          <a:p>
            <a:pPr>
              <a:spcAft>
                <a:spcPts val="600"/>
              </a:spcAft>
              <a:defRPr sz="1400"/>
            </a:pPr>
            <a:r>
              <a:t>1. Развитие произвольного внимания, его устойчивости и переключаемости.</a:t>
            </a:r>
          </a:p>
          <a:p>
            <a:pPr>
              <a:spcAft>
                <a:spcPts val="600"/>
              </a:spcAft>
              <a:defRPr sz="1400"/>
            </a:pPr>
            <a:r>
              <a:t>2. Коррекция мнестических процессов (зрительная и слуховая память).</a:t>
            </a:r>
          </a:p>
          <a:p>
            <a:pPr>
              <a:spcAft>
                <a:spcPts val="600"/>
              </a:spcAft>
              <a:defRPr sz="1400"/>
            </a:pPr>
            <a:r>
              <a:t>3. Формирование наглядно-образного и элементов словесно-логического мышления.</a:t>
            </a:r>
          </a:p>
          <a:p>
            <a:pPr>
              <a:spcAft>
                <a:spcPts val="600"/>
              </a:spcAft>
              <a:defRPr sz="1400"/>
            </a:pPr>
            <a:r>
              <a:t>4. Развитие навыков эмоциональной регуляции и распознавания эмоций.</a:t>
            </a:r>
          </a:p>
          <a:p>
            <a:pPr>
              <a:spcAft>
                <a:spcPts val="600"/>
              </a:spcAft>
              <a:defRPr sz="1400"/>
            </a:pPr>
            <a:r>
              <a:t>5. Формирование коммуникативных навыков и просоциального поведения.</a:t>
            </a:r>
          </a:p>
          <a:p>
            <a:pPr>
              <a:spcAft>
                <a:spcPts val="600"/>
              </a:spcAft>
              <a:defRPr sz="1400"/>
            </a:pPr>
            <a:r>
              <a:t>6. Повышение самооценки и учебной мотивации.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Научные, методологические и методические основания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1. Культурно-историческая теория Л.С. Выготского: понятие зоны ближайшего</a:t>
            </a:r>
          </a:p>
          <a:p>
            <a:pPr>
              <a:spcAft>
                <a:spcPts val="600"/>
              </a:spcAft>
              <a:defRPr sz="1400"/>
            </a:pPr>
            <a:r>
              <a:t>   развития как основа коррекционной работы; ориентация на сохранные функции.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2. Нейропсихологический подход А.Р. Лурии: принцип системной организации</a:t>
            </a:r>
          </a:p>
          <a:p>
            <a:pPr>
              <a:spcAft>
                <a:spcPts val="600"/>
              </a:spcAft>
              <a:defRPr sz="1400"/>
            </a:pPr>
            <a:r>
              <a:t>   высших психических функций; метод замещающего онтогенеза (А.В. Семенович).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3. Деятельностный подход (А.Н. Леонтьев, Д.Б. Эльконин): коррекция через</a:t>
            </a:r>
          </a:p>
          <a:p>
            <a:pPr>
              <a:spcAft>
                <a:spcPts val="600"/>
              </a:spcAft>
              <a:defRPr sz="1400"/>
            </a:pPr>
            <a:r>
              <a:t>   ведущую деятельность — игру и элементы учебной деятельности.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4. Методика сенсорной интеграции (Дж. Айрес): развитие базовых сенсорных</a:t>
            </a:r>
          </a:p>
          <a:p>
            <a:pPr>
              <a:spcAft>
                <a:spcPts val="600"/>
              </a:spcAft>
              <a:defRPr sz="1400"/>
            </a:pPr>
            <a:r>
              <a:t>   систем как фундамента для когнитивного развития.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5. Программы когнитивной коррекции: «Коррекционно-развивающее обучение»</a:t>
            </a:r>
          </a:p>
          <a:p>
            <a:pPr>
              <a:spcAft>
                <a:spcPts val="600"/>
              </a:spcAft>
              <a:defRPr sz="1400"/>
            </a:pPr>
            <a:r>
              <a:t>   (С.Г. Шевченко), «Развитие познавательной деятельности» (Л.Б. Баряева).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Ресурсы, необходимые для реализации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Требования к специалистам:</a:t>
            </a:r>
          </a:p>
          <a:p>
            <a:pPr>
              <a:spcAft>
                <a:spcPts val="600"/>
              </a:spcAft>
              <a:defRPr sz="1400"/>
            </a:pPr>
            <a:r>
              <a:t>• Высшее образование (специальная/клиническая психология, дефектология).</a:t>
            </a:r>
          </a:p>
          <a:p>
            <a:pPr>
              <a:spcAft>
                <a:spcPts val="600"/>
              </a:spcAft>
              <a:defRPr sz="1400"/>
            </a:pPr>
            <a:r>
              <a:t>• Подготовка по нейропсихологической коррекции (не менее 72 часов).</a:t>
            </a:r>
          </a:p>
          <a:p>
            <a:pPr>
              <a:spcAft>
                <a:spcPts val="600"/>
              </a:spcAft>
              <a:defRPr sz="1400"/>
            </a:pPr>
            <a:r>
              <a:t>• Опыт работы с детьми с интеллектуальными нарушениями.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Диагностические и методические материалы:</a:t>
            </a:r>
          </a:p>
          <a:p>
            <a:pPr>
              <a:spcAft>
                <a:spcPts val="600"/>
              </a:spcAft>
              <a:defRPr sz="1400"/>
            </a:pPr>
            <a:r>
              <a:t>• Методика Векслера (WISC) для оценки интеллектуального профиля.</a:t>
            </a:r>
          </a:p>
          <a:p>
            <a:pPr>
              <a:spcAft>
                <a:spcPts val="600"/>
              </a:spcAft>
              <a:defRPr sz="1400"/>
            </a:pPr>
            <a:r>
              <a:t>• Нейропсихологическая диагностика (батарея А.Р. Лурии, адапт. для детей).</a:t>
            </a:r>
          </a:p>
          <a:p>
            <a:pPr>
              <a:spcAft>
                <a:spcPts val="600"/>
              </a:spcAft>
              <a:defRPr sz="1400"/>
            </a:pPr>
            <a:r>
              <a:t>• Методика «10 слов» А.Р. Лурии, таблицы Шульте, «Корректурная проба».</a:t>
            </a:r>
          </a:p>
          <a:p>
            <a:pPr>
              <a:spcAft>
                <a:spcPts val="600"/>
              </a:spcAft>
              <a:defRPr sz="1400"/>
            </a:pPr>
            <a:r>
              <a:t>• «Прогрессивные матрицы Равена» (цветной вариант).</a:t>
            </a:r>
          </a:p>
          <a:p>
            <a:pPr>
              <a:spcAft>
                <a:spcPts val="600"/>
              </a:spcAft>
              <a:defRPr sz="1400"/>
            </a:pPr>
            <a:r>
              <a:t>• Карта наблюдения за поведением, дневник занятий.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Материально-техническое оснащение:</a:t>
            </a:r>
          </a:p>
          <a:p>
            <a:pPr>
              <a:spcAft>
                <a:spcPts val="600"/>
              </a:spcAft>
              <a:defRPr sz="1400"/>
            </a:pPr>
            <a:r>
              <a:t>• Кабинет для индивидуальной и малогрупповой работы (3–5 детей).</a:t>
            </a:r>
          </a:p>
          <a:p>
            <a:pPr>
              <a:spcAft>
                <a:spcPts val="600"/>
              </a:spcAft>
              <a:defRPr sz="1400"/>
            </a:pPr>
            <a:r>
              <a:t>• Дидактические пособия, развивающие игры, сенсорные материалы.</a:t>
            </a:r>
          </a:p>
          <a:p>
            <a:pPr>
              <a:spcAft>
                <a:spcPts val="600"/>
              </a:spcAft>
              <a:defRPr sz="1400"/>
            </a:pPr>
            <a:r>
              <a:t>• Наглядные пособия (карточки эмоций, схемы, пиктограммы).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Ожидаемые результаты реализации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1. Улучшение показателей произвольного внимания: увеличение объёма,</a:t>
            </a:r>
          </a:p>
          <a:p>
            <a:pPr>
              <a:spcAft>
                <a:spcPts val="600"/>
              </a:spcAft>
              <a:defRPr sz="1400"/>
            </a:pPr>
            <a:r>
              <a:t>   концентрации и устойчивости (по таблицам Шульте, корректурной пробе).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2. Повышение продуктивности запоминания: увеличение объёма кратковременной</a:t>
            </a:r>
          </a:p>
          <a:p>
            <a:pPr>
              <a:spcAft>
                <a:spcPts val="600"/>
              </a:spcAft>
              <a:defRPr sz="1400"/>
            </a:pPr>
            <a:r>
              <a:t>   и долговременной памяти (методика «10 слов»).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3. Развитие мыслительных операций: улучшение способности к обобщению,</a:t>
            </a:r>
          </a:p>
          <a:p>
            <a:pPr>
              <a:spcAft>
                <a:spcPts val="600"/>
              </a:spcAft>
              <a:defRPr sz="1400"/>
            </a:pPr>
            <a:r>
              <a:t>   классификации и установлению причинно-следственных связей.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4. Стабилизация эмоциональной сферы: снижение уровня тревожности,</a:t>
            </a:r>
          </a:p>
          <a:p>
            <a:pPr>
              <a:spcAft>
                <a:spcPts val="600"/>
              </a:spcAft>
              <a:defRPr sz="1400"/>
            </a:pPr>
            <a:r>
              <a:t>   формирование навыков саморегуляции.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5. Улучшение коммуникативных навыков: адекватное взаимодействие со</a:t>
            </a:r>
          </a:p>
          <a:p>
            <a:pPr>
              <a:spcAft>
                <a:spcPts val="600"/>
              </a:spcAft>
              <a:defRPr sz="1400"/>
            </a:pPr>
            <a:r>
              <a:t>   сверстниками, умение выражать просьбы и отказы.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6. Повышение учебной мотивации и самооценки ребёнка.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Психодиагностический инструментарий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Исследование когнитивной сферы:</a:t>
            </a:r>
          </a:p>
          <a:p>
            <a:pPr>
              <a:spcAft>
                <a:spcPts val="600"/>
              </a:spcAft>
              <a:defRPr sz="1400"/>
            </a:pPr>
            <a:r>
              <a:t>• Методика Векслера (WISC-IV/V) — профиль интеллектуальных способностей.</a:t>
            </a:r>
          </a:p>
          <a:p>
            <a:pPr>
              <a:spcAft>
                <a:spcPts val="600"/>
              </a:spcAft>
              <a:defRPr sz="1400"/>
            </a:pPr>
            <a:r>
              <a:t>• «10 слов» А.Р. Лурии — слухоречевая память.</a:t>
            </a:r>
          </a:p>
          <a:p>
            <a:pPr>
              <a:spcAft>
                <a:spcPts val="600"/>
              </a:spcAft>
              <a:defRPr sz="1400"/>
            </a:pPr>
            <a:r>
              <a:t>• Таблицы Шульте — устойчивость и переключаемость внимания.</a:t>
            </a:r>
          </a:p>
          <a:p>
            <a:pPr>
              <a:spcAft>
                <a:spcPts val="600"/>
              </a:spcAft>
              <a:defRPr sz="1400"/>
            </a:pPr>
            <a:r>
              <a:t>• Корректурная проба (тест Бурдона) — концентрация внимания.</a:t>
            </a:r>
          </a:p>
          <a:p>
            <a:pPr>
              <a:spcAft>
                <a:spcPts val="600"/>
              </a:spcAft>
              <a:defRPr sz="1400"/>
            </a:pPr>
            <a:r>
              <a:t>• Цветные прогрессивные матрицы Равена — наглядно-образное мышление.</a:t>
            </a:r>
          </a:p>
          <a:p>
            <a:pPr>
              <a:spcAft>
                <a:spcPts val="600"/>
              </a:spcAft>
              <a:defRPr sz="1400"/>
            </a:pPr>
            <a:r>
              <a:t>• «Исключение предметов», «Классификация» — операции мышления.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Исследование эмоционально-личностной сферы:</a:t>
            </a:r>
          </a:p>
          <a:p>
            <a:pPr>
              <a:spcAft>
                <a:spcPts val="600"/>
              </a:spcAft>
              <a:defRPr sz="1400"/>
            </a:pPr>
            <a:r>
              <a:t>• Проективные методики: «Рисунок человека», «Несуществующее животное».</a:t>
            </a:r>
          </a:p>
          <a:p>
            <a:pPr>
              <a:spcAft>
                <a:spcPts val="600"/>
              </a:spcAft>
              <a:defRPr sz="1400"/>
            </a:pPr>
            <a:r>
              <a:t>• Шкала тревожности Р. Тэммл, М. Дорки, В. Амен.</a:t>
            </a:r>
          </a:p>
          <a:p>
            <a:pPr>
              <a:spcAft>
                <a:spcPts val="600"/>
              </a:spcAft>
              <a:defRPr sz="1400"/>
            </a:pPr>
            <a:r>
              <a:t>• Методика «Лесенка» (В.Г. Щур) — самооценка.</a:t>
            </a:r>
          </a:p>
          <a:p>
            <a:pPr>
              <a:spcAft>
                <a:spcPts val="600"/>
              </a:spcAft>
              <a:defRPr sz="1400"/>
            </a:pPr>
            <a:r>
              <a:t>• Социометрия — статус в группе сверстников.</a:t>
            </a:r>
          </a:p>
          <a:p>
            <a:pPr>
              <a:spcAft>
                <a:spcPts val="600"/>
              </a:spcAft>
              <a:defRPr sz="1400"/>
            </a:pPr>
            <a:r>
              <a:t>• Карта наблюдений Стотта — адаптация в школе.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коррекционной программы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Программа состоит из 30 занятий (2 раза в неделю, продолжительность 30–40 мин).</a:t>
            </a:r>
          </a:p>
          <a:p>
            <a:pPr>
              <a:spcAft>
                <a:spcPts val="600"/>
              </a:spcAft>
              <a:defRPr sz="1400"/>
            </a:pPr>
            <a:r>
              <a:t>Форма работы: индивидуальная и малогрупповая (3–5 детей).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Блок 1. Развитие внимания и сенсомоторной сферы (занятия 1–8)</a:t>
            </a:r>
          </a:p>
          <a:p>
            <a:pPr>
              <a:spcAft>
                <a:spcPts val="600"/>
              </a:spcAft>
              <a:defRPr sz="1400"/>
            </a:pPr>
            <a:r>
              <a:t>• Упражнения на произвольное внимание и зрительно-моторную координацию.</a:t>
            </a:r>
          </a:p>
          <a:p>
            <a:pPr>
              <a:spcAft>
                <a:spcPts val="600"/>
              </a:spcAft>
              <a:defRPr sz="1400"/>
            </a:pPr>
            <a:r>
              <a:t>• Сенсорная интеграция: тактильные, вестибулярные, проприоцептивные задания.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Блок 2. Коррекция памяти и восприятия (занятия 9–16)</a:t>
            </a:r>
          </a:p>
          <a:p>
            <a:pPr>
              <a:spcAft>
                <a:spcPts val="600"/>
              </a:spcAft>
              <a:defRPr sz="1400"/>
            </a:pPr>
            <a:r>
              <a:t>• Мнемотехники: «цепочка образов», «опорные картинки».</a:t>
            </a:r>
          </a:p>
          <a:p>
            <a:pPr>
              <a:spcAft>
                <a:spcPts val="600"/>
              </a:spcAft>
              <a:defRPr sz="1400"/>
            </a:pPr>
            <a:r>
              <a:t>• Развитие зрительного и слухового восприятия.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Блок 3. Развитие мышления (занятия 17–24)</a:t>
            </a:r>
          </a:p>
          <a:p>
            <a:pPr>
              <a:spcAft>
                <a:spcPts val="600"/>
              </a:spcAft>
              <a:defRPr sz="1400"/>
            </a:pPr>
            <a:r>
              <a:t>• Операции анализа, синтеза, сравнения, обобщения, классификации.</a:t>
            </a:r>
          </a:p>
          <a:p>
            <a:pPr>
              <a:spcAft>
                <a:spcPts val="600"/>
              </a:spcAft>
              <a:defRPr sz="1400"/>
            </a:pPr>
            <a:r>
              <a:t>• Установление последовательностей и причинно-следственных связей.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Блок 4. Социально-эмоциональное развитие (занятия 25–30)</a:t>
            </a:r>
          </a:p>
          <a:p>
            <a:pPr>
              <a:spcAft>
                <a:spcPts val="600"/>
              </a:spcAft>
              <a:defRPr sz="1400"/>
            </a:pPr>
            <a:r>
              <a:t>• Распознавание и выражение эмоций, навыки саморегуляции.</a:t>
            </a:r>
          </a:p>
          <a:p>
            <a:pPr>
              <a:spcAft>
                <a:spcPts val="600"/>
              </a:spcAft>
              <a:defRPr sz="1400"/>
            </a:pPr>
            <a:r>
              <a:t>• Коммуникативные игры, ролевое моделирование, работа с самооценкой.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Примерная структура коррекционного занятия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Этап</a:t>
            </a:r>
          </a:p>
          <a:p>
            <a:pPr>
              <a:spcAft>
                <a:spcPts val="600"/>
              </a:spcAft>
              <a:defRPr sz="1400"/>
            </a:pPr>
            <a:r>
              <a:t>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600"/>
              </a:spcAft>
              <a:defRPr sz="1400"/>
            </a:pPr>
            <a:r>
              <a:t>1. Ритуал приветствия (2–3 мин) — создание положительного настроя.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2. Разминка (5 мин) — кинезиологические упражнения, дыхательная</a:t>
            </a:r>
          </a:p>
          <a:p>
            <a:pPr>
              <a:spcAft>
                <a:spcPts val="600"/>
              </a:spcAft>
              <a:defRPr sz="1400"/>
            </a:pPr>
            <a:r>
              <a:t>   гимнастика, пальчиковые игры (активация межполушарного взаимодействия).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3. Основная часть (20–25 мин) — коррекционные упражнения по целевому</a:t>
            </a:r>
          </a:p>
          <a:p>
            <a:pPr>
              <a:spcAft>
                <a:spcPts val="600"/>
              </a:spcAft>
              <a:defRPr sz="1400"/>
            </a:pPr>
            <a:r>
              <a:t>   блоку (2–3 упражнения с нарастающей сложностью).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4. Релаксация (3–5 мин) — снятие напряжения, дыхательные техники.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5. Рефлексия и ритуал завершения (3 мин) — обратная связь, «шкала</a:t>
            </a:r>
          </a:p>
          <a:p>
            <a:pPr>
              <a:spcAft>
                <a:spcPts val="600"/>
              </a:spcAft>
              <a:defRPr sz="1400"/>
            </a:pPr>
            <a:r>
              <a:t>   настроения», поощрение.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Принципы: наглядность, повторяемость, пошаговость, опора на игру,</a:t>
            </a:r>
          </a:p>
          <a:p>
            <a:pPr>
              <a:spcAft>
                <a:spcPts val="600"/>
              </a:spcAft>
              <a:defRPr sz="1400"/>
            </a:pPr>
            <a:r>
              <a:t>положительное подкрепление, учёт зоны ближайшего развития.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Работа с семьёй ребёнка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1. Психообразование родителей:</a:t>
            </a:r>
          </a:p>
          <a:p>
            <a:pPr>
              <a:spcAft>
                <a:spcPts val="600"/>
              </a:spcAft>
              <a:defRPr sz="1400"/>
            </a:pPr>
            <a:r>
              <a:t>   • Информирование о когнитивных особенностях ребёнка с лёгкой УО.</a:t>
            </a:r>
          </a:p>
          <a:p>
            <a:pPr>
              <a:spcAft>
                <a:spcPts val="600"/>
              </a:spcAft>
              <a:defRPr sz="1400"/>
            </a:pPr>
            <a:r>
              <a:t>   • Формирование реалистичных ожиданий от коррекционной работы.</a:t>
            </a:r>
          </a:p>
          <a:p>
            <a:pPr>
              <a:spcAft>
                <a:spcPts val="600"/>
              </a:spcAft>
              <a:defRPr sz="1400"/>
            </a:pPr>
            <a:r>
              <a:t>   • Снижение гиперопеки и формирование поддерживающей среды.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2. Консультирование:</a:t>
            </a:r>
          </a:p>
          <a:p>
            <a:pPr>
              <a:spcAft>
                <a:spcPts val="600"/>
              </a:spcAft>
              <a:defRPr sz="1400"/>
            </a:pPr>
            <a:r>
              <a:t>   • Обучение приёмам развития внимания и памяти в домашних условиях.</a:t>
            </a:r>
          </a:p>
          <a:p>
            <a:pPr>
              <a:spcAft>
                <a:spcPts val="600"/>
              </a:spcAft>
              <a:defRPr sz="1400"/>
            </a:pPr>
            <a:r>
              <a:t>   • Рекомендации по организации режима дня и учебного пространства.</a:t>
            </a:r>
          </a:p>
          <a:p>
            <a:pPr>
              <a:spcAft>
                <a:spcPts val="600"/>
              </a:spcAft>
              <a:defRPr sz="1400"/>
            </a:pPr>
            <a:r>
              <a:t>   • Техники эмоциональной поддержки: похвала процесса, а не результата.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3. Домашние задания для совместного выполнения:</a:t>
            </a:r>
          </a:p>
          <a:p>
            <a:pPr>
              <a:spcAft>
                <a:spcPts val="600"/>
              </a:spcAft>
              <a:defRPr sz="1400"/>
            </a:pPr>
            <a:r>
              <a:t>   • Настольные игры (домино, лото, «Мемори») — тренировка памяти.</a:t>
            </a:r>
          </a:p>
          <a:p>
            <a:pPr>
              <a:spcAft>
                <a:spcPts val="600"/>
              </a:spcAft>
              <a:defRPr sz="1400"/>
            </a:pPr>
            <a:r>
              <a:t>   • Совместное чтение с обсуждением — развитие речи и мышления.</a:t>
            </a:r>
          </a:p>
          <a:p>
            <a:pPr>
              <a:spcAft>
                <a:spcPts val="600"/>
              </a:spcAft>
              <a:defRPr sz="1400"/>
            </a:pPr>
            <a:r>
              <a:t>   • Бытовые поручения по инструкции — развитие планирования.</a:t>
            </a:r>
          </a:p>
          <a:p>
            <a:pPr>
              <a:spcAft>
                <a:spcPts val="600"/>
              </a:spcAft>
              <a:defRPr sz="1400"/>
            </a:pPr>
          </a:p>
          <a:p>
            <a:pPr>
              <a:spcAft>
                <a:spcPts val="600"/>
              </a:spcAft>
              <a:defRPr sz="1400"/>
            </a:pPr>
            <a:r>
              <a:t>4. Родительские встречи (1 раз в месяц): обсуждение динамики,</a:t>
            </a:r>
          </a:p>
          <a:p>
            <a:pPr>
              <a:spcAft>
                <a:spcPts val="600"/>
              </a:spcAft>
              <a:defRPr sz="1400"/>
            </a:pPr>
            <a:r>
              <a:t>   обмен опытом, эмоциональная поддержка родителей.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Список использованных источников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/>
            </a:pPr>
            <a:r>
              <a:t>1. Выготский Л.С. Основы дефектологии. — М.: Лань, 2003.</a:t>
            </a:r>
          </a:p>
          <a:p>
            <a:pPr>
              <a:spcAft>
                <a:spcPts val="600"/>
              </a:spcAft>
              <a:defRPr sz="1400"/>
            </a:pPr>
            <a:r>
              <a:t>2. Лурия А.Р. Высшие корковые функции человека. — М.: МГУ, 1969.</a:t>
            </a:r>
          </a:p>
          <a:p>
            <a:pPr>
              <a:spcAft>
                <a:spcPts val="600"/>
              </a:spcAft>
              <a:defRPr sz="1400"/>
            </a:pPr>
            <a:r>
              <a:t>3. Семенович А.В. Нейропсихологическая коррекция в детском возрасте.</a:t>
            </a:r>
          </a:p>
          <a:p>
            <a:pPr>
              <a:spcAft>
                <a:spcPts val="600"/>
              </a:spcAft>
              <a:defRPr sz="1400"/>
            </a:pPr>
            <a:r>
              <a:t>   Метод замещающего онтогенеза. — М.: Генезис, 2015.</a:t>
            </a:r>
          </a:p>
          <a:p>
            <a:pPr>
              <a:spcAft>
                <a:spcPts val="600"/>
              </a:spcAft>
              <a:defRPr sz="1400"/>
            </a:pPr>
            <a:r>
              <a:t>4. Баряева Л.Б., Зарин А.П. Обучение сюжетно-ролевой игре детей с</a:t>
            </a:r>
          </a:p>
          <a:p>
            <a:pPr>
              <a:spcAft>
                <a:spcPts val="600"/>
              </a:spcAft>
              <a:defRPr sz="1400"/>
            </a:pPr>
            <a:r>
              <a:t>   проблемами интеллектуального развития. — СПб.: Союз, 2001.</a:t>
            </a:r>
          </a:p>
          <a:p>
            <a:pPr>
              <a:spcAft>
                <a:spcPts val="600"/>
              </a:spcAft>
              <a:defRPr sz="1400"/>
            </a:pPr>
            <a:r>
              <a:t>5. Шевченко С.Г. Коррекционно-развивающее обучение: организационно-</a:t>
            </a:r>
          </a:p>
          <a:p>
            <a:pPr>
              <a:spcAft>
                <a:spcPts val="600"/>
              </a:spcAft>
              <a:defRPr sz="1400"/>
            </a:pPr>
            <a:r>
              <a:t>   педагогические аспекты. — М.: Владос, 2001.</a:t>
            </a:r>
          </a:p>
          <a:p>
            <a:pPr>
              <a:spcAft>
                <a:spcPts val="600"/>
              </a:spcAft>
              <a:defRPr sz="1400"/>
            </a:pPr>
            <a:r>
              <a:t>6. Айрес Дж. Ребёнок и сенсорная интеграция. — М.: Теревинф, 2019.</a:t>
            </a:r>
          </a:p>
          <a:p>
            <a:pPr>
              <a:spcAft>
                <a:spcPts val="600"/>
              </a:spcAft>
              <a:defRPr sz="1400"/>
            </a:pPr>
            <a:r>
              <a:t>7. Исаев Д.Н. Умственная отсталость у детей и подростков.</a:t>
            </a:r>
          </a:p>
          <a:p>
            <a:pPr>
              <a:spcAft>
                <a:spcPts val="600"/>
              </a:spcAft>
              <a:defRPr sz="1400"/>
            </a:pPr>
            <a:r>
              <a:t>   Руководство. — СПб.: Речь, 2003.</a:t>
            </a:r>
          </a:p>
          <a:p>
            <a:pPr>
              <a:spcAft>
                <a:spcPts val="600"/>
              </a:spcAft>
              <a:defRPr sz="1400"/>
            </a:pPr>
            <a:r>
              <a:t>8. Забрамная С.Д., Левченко И.Ю. Психолого-педагогическая диагностика</a:t>
            </a:r>
          </a:p>
          <a:p>
            <a:pPr>
              <a:spcAft>
                <a:spcPts val="600"/>
              </a:spcAft>
              <a:defRPr sz="1400"/>
            </a:pPr>
            <a:r>
              <a:t>   нарушений развития. — М.: Сфера, 2007.</a:t>
            </a:r>
          </a:p>
          <a:p>
            <a:pPr>
              <a:spcAft>
                <a:spcPts val="600"/>
              </a:spcAft>
              <a:defRPr sz="1400"/>
            </a:pPr>
            <a:r>
              <a:t>9. Мамайчук И.И. Психокоррекционные технологии для детей с проблемами</a:t>
            </a:r>
          </a:p>
          <a:p>
            <a:pPr>
              <a:spcAft>
                <a:spcPts val="600"/>
              </a:spcAft>
              <a:defRPr sz="1400"/>
            </a:pPr>
            <a:r>
              <a:t>   в развитии. — СПб.: Речь, 2006.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